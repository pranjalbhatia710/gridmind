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We're Team [Name], and today we're presenting GridMind — an intelligent energy orchestration platform designed specifically for Midwest State University's campus. Over the next 10 minutes, we'll show you how to save $7 million a year on a $28 million energy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MSU spends $28 million a year on energy across 120 buildings. But look at this breakdown — research labs are just 17% of buildings but consume nearly half of all energy. That's our primary target. And here's the challenge: 75% of buildings have no real-time metering. We're flying blind on most of the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our three differentiators. First, proxy metering — we don't need sensors in every building. We use statistical models trained on the 30 metered buildings to estimate the other 90. Second, thermal ice storage — we make ice at night when power is cheap and use it for cooling during expensive peak hours. Third, our phased approach means Phase 1 ROI funds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has three layers. The engineering layer is the physical infrastructure — sensors, controllers, and the ice storage system. The software layer is where the intelligence lives — our proxy metering engine, the real-time dashboard, and predictive analytics. The finance layer ties it all together — tracking ROI, managing the phased budget, and optimizing for carbon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not proposing blanket sensor deployment. We strategically instrument the 20 labs that consume 47% of energy. Our total hardware cost is just $350K — less than 3% of the budget. This is fundamentally a software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me switch to our live dashboard. You'll see every building on campus with real-time energy data. Watch what happens when I toggle GridMind optimization on — every metric on the page responds. The red alerts turn green. The energy curve drops. This is what comprehensive campus energy management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AI engine makes building-by-building decisions every 15 minutes. Watch the Chemistry Lab — as researchers leave for the night, the AI automatically reduces ventilation from 10 ACH to 2 ACH, saving $34 per hour. Multiply that across 20 labs and you understand why labs are our primary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interactive simulation lets you adjust each optimization lever independently. Move the lab ventilation slider and watch the energy curve drop in real-time. The numbers are based on real case studies — UC Irvine achieved 61% reduction in their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talk money. We invest $12 million over 5 years and generate $27 million in savings. That's a net positive of $15 million. The payback period is just 22 months. And critically, Phase 1 stands on its own — $2.8 million investment, $1.8 million first-year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GridMind wins. One: we solve the data problem creatively with proxy metering. Two: we focus on the highest-impact buildings. Three: the numbers speak for themselves. $15 million in net savings, 22-month payback, and 45% IRR.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GridMind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3808476" y="2834640"/>
            <a:ext cx="45720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1089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Campus Energy Orchestration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5943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$28 Million Goes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4697273" cy="411480"/>
          </a:xfrm>
          <a:prstGeom prst="rect">
            <a:avLst>
              <a:gd name="adj" fmla="val 11111"/>
            </a:avLst>
          </a:prstGeom>
          <a:solidFill>
            <a:srgbClr val="E74C3C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188720"/>
            <a:ext cx="451439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20233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98M kWh (46.7%)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450031" cy="411480"/>
          </a:xfrm>
          <a:prstGeom prst="rect">
            <a:avLst>
              <a:gd name="adj" fmla="val 11111"/>
            </a:avLst>
          </a:prstGeom>
          <a:solidFill>
            <a:srgbClr val="3498D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83080"/>
            <a:ext cx="32671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72991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72M kWh (34.3%)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2152498" cy="411480"/>
          </a:xfrm>
          <a:prstGeom prst="rect">
            <a:avLst>
              <a:gd name="adj" fmla="val 11111"/>
            </a:avLst>
          </a:prstGeom>
          <a:solidFill>
            <a:srgbClr val="1ABC9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377440"/>
            <a:ext cx="19696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75458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 kWh (21.4%)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1800454" cy="411480"/>
          </a:xfrm>
          <a:prstGeom prst="rect">
            <a:avLst>
              <a:gd name="adj" fmla="val 11111"/>
            </a:avLst>
          </a:prstGeom>
          <a:solidFill>
            <a:srgbClr val="9B59B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971800"/>
            <a:ext cx="1617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23414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37.5M kWh (17.9%)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754880"/>
            <a:ext cx="7772400" cy="914400"/>
          </a:xfrm>
          <a:prstGeom prst="rect">
            <a:avLst>
              <a:gd name="adj" fmla="val 10000"/>
            </a:avLst>
          </a:prstGeom>
          <a:solidFill>
            <a:srgbClr val="1A1D28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75488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labs = 17% of buildings but 47% of energy. Labs are 4-5x more energy-intensive.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0" y="1188720"/>
            <a:ext cx="3017520" cy="822960"/>
          </a:xfrm>
          <a:prstGeom prst="rect">
            <a:avLst>
              <a:gd name="adj" fmla="val 8889"/>
            </a:avLst>
          </a:prstGeom>
          <a:solidFill>
            <a:srgbClr val="1A1D28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0" y="1188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buildings unmetered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0" y="2240280"/>
            <a:ext cx="3017520" cy="822960"/>
          </a:xfrm>
          <a:prstGeom prst="rect">
            <a:avLst>
              <a:gd name="adj" fmla="val 8889"/>
            </a:avLst>
          </a:prstGeom>
          <a:solidFill>
            <a:srgbClr val="1A1D28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0" y="2240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peak price premium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86800" y="3291840"/>
            <a:ext cx="3017520" cy="822960"/>
          </a:xfrm>
          <a:prstGeom prst="rect">
            <a:avLst>
              <a:gd name="adj" fmla="val 8889"/>
            </a:avLst>
          </a:prstGeom>
          <a:solidFill>
            <a:srgbClr val="1A1D28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0" y="3291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consumption growth in 5 years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Ideas Other Teams Won't Have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109728" cy="137160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371600"/>
            <a:ext cx="10058400" cy="1371600"/>
          </a:xfrm>
          <a:prstGeom prst="rect">
            <a:avLst>
              <a:gd name="adj" fmla="val 6667"/>
            </a:avLst>
          </a:prstGeom>
          <a:solidFill>
            <a:srgbClr val="1A1D28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Metering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1965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25% metered buildings to model the other 75% — save $1M in sensor costs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9728" cy="1371600"/>
          </a:xfrm>
          <a:prstGeom prst="rect">
            <a:avLst>
              <a:gd name="adj" fmla="val 33333"/>
            </a:avLst>
          </a:prstGeom>
          <a:solidFill>
            <a:srgbClr val="1ABC9C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063240"/>
            <a:ext cx="10058400" cy="1371600"/>
          </a:xfrm>
          <a:prstGeom prst="rect">
            <a:avLst>
              <a:gd name="adj" fmla="val 6667"/>
            </a:avLst>
          </a:prstGeom>
          <a:solidFill>
            <a:srgbClr val="1A1D28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Ice Storage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ice at night ($0.106/kWh), cool by day ($0.17/kWh). Same comfort, 37% less cost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109728" cy="137160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754880"/>
            <a:ext cx="10058400" cy="1371600"/>
          </a:xfrm>
          <a:prstGeom prst="rect">
            <a:avLst>
              <a:gd name="adj" fmla="val 6667"/>
            </a:avLst>
          </a:prstGeom>
          <a:solidFill>
            <a:srgbClr val="1A1D28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892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Self-Funding Cascade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savings pay for Phase 2. $12M invested -&gt; $15M net savings in 5 years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GridMind Architecture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371600"/>
            <a:ext cx="9144000" cy="1188720"/>
          </a:xfrm>
          <a:prstGeom prst="rect">
            <a:avLst>
              <a:gd name="adj" fmla="val 7692"/>
            </a:avLst>
          </a:prstGeom>
          <a:solidFill>
            <a:srgbClr val="1A1D2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1600" y="1371600"/>
            <a:ext cx="13716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Layer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288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Optimizer  |  Budget Tracker  |  Carbon Accounting  |  Peak Arbitrage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2926080"/>
            <a:ext cx="9144000" cy="1188720"/>
          </a:xfrm>
          <a:prstGeom prst="rect">
            <a:avLst>
              <a:gd name="adj" fmla="val 7692"/>
            </a:avLst>
          </a:prstGeom>
          <a:solidFill>
            <a:srgbClr val="1A1D2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2926080"/>
            <a:ext cx="137160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Layer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Metering  |  Dashboard  |  Analytics  |  Predictive Maintenance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71600" y="4480560"/>
            <a:ext cx="9144000" cy="1188720"/>
          </a:xfrm>
          <a:prstGeom prst="rect">
            <a:avLst>
              <a:gd name="adj" fmla="val 7692"/>
            </a:avLst>
          </a:prstGeom>
          <a:solidFill>
            <a:srgbClr val="1A1D28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4480560"/>
            <a:ext cx="13716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Layer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 |  VAV Controllers  |  Steam Trap Monitors  |  Ice Storage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0" y="5943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Data flows up   |   ↓ Commands flow down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Sensor Deployment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228600" cy="2286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" y="1280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VAV boxes + VOC sensors + DCV controls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468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General/Academic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2880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meters + occupancy sensors + BACnet integration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228600" cy="2286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657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Athletic Facilities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4069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storage controllers + VFDs + pool pump optimization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1280160"/>
            <a:ext cx="3931920" cy="2743200"/>
          </a:xfrm>
          <a:prstGeom prst="rect">
            <a:avLst>
              <a:gd name="adj" fmla="val 3333"/>
            </a:avLst>
          </a:prstGeom>
          <a:solidFill>
            <a:srgbClr val="1A1D28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IoT Hardware: $350K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9552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2.9% of the $12M budget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0" y="2743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software solution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targeted hardware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5303520"/>
            <a:ext cx="11247120" cy="731520"/>
          </a:xfrm>
          <a:prstGeom prst="rect">
            <a:avLst>
              <a:gd name="adj" fmla="val 10000"/>
            </a:avLst>
          </a:prstGeom>
          <a:solidFill>
            <a:srgbClr val="1A1D2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failed steam trap wastes $5-15K/year. We monitor all of them.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Everything, Optimize Everything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22860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47472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campus dashboard...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Metering  ·  Real-time Alerts  ·  Before/After Toggle  ·  Building Efficiency Scoring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Campus-Wide Energy Orchestration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201168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AI engine simulation...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2926080" cy="1097280"/>
          </a:xfrm>
          <a:prstGeom prst="rect">
            <a:avLst>
              <a:gd name="adj" fmla="val 8333"/>
            </a:avLst>
          </a:prstGeom>
          <a:solidFill>
            <a:srgbClr val="1A1D2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4389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ventilation: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 savings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17720" y="4389120"/>
            <a:ext cx="2926080" cy="1097280"/>
          </a:xfrm>
          <a:prstGeom prst="rect">
            <a:avLst>
              <a:gd name="adj" fmla="val 8333"/>
            </a:avLst>
          </a:prstGeom>
          <a:solidFill>
            <a:srgbClr val="1A1D28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4389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Cross-building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4389120"/>
            <a:ext cx="2926080" cy="1097280"/>
          </a:xfrm>
          <a:prstGeom prst="rect">
            <a:avLst>
              <a:gd name="adj" fmla="val 8333"/>
            </a:avLst>
          </a:prstGeom>
          <a:solidFill>
            <a:srgbClr val="1A1D28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4389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After: The Numbers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26517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energy simulation...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840480"/>
            <a:ext cx="2560320" cy="1645920"/>
          </a:xfrm>
          <a:prstGeom prst="rect">
            <a:avLst>
              <a:gd name="adj" fmla="val 5556"/>
            </a:avLst>
          </a:prstGeom>
          <a:solidFill>
            <a:srgbClr val="1A1D28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434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210M kWh/yr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566160" y="3840480"/>
            <a:ext cx="2560320" cy="1645920"/>
          </a:xfrm>
          <a:prstGeom prst="rect">
            <a:avLst>
              <a:gd name="adj" fmla="val 5556"/>
            </a:avLst>
          </a:prstGeom>
          <a:solidFill>
            <a:srgbClr val="1A1D2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GridMind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4434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131M kWh/yr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400800" y="3840480"/>
            <a:ext cx="2560320" cy="1645920"/>
          </a:xfrm>
          <a:prstGeom prst="rect">
            <a:avLst>
              <a:gd name="adj" fmla="val 5556"/>
            </a:avLst>
          </a:prstGeom>
          <a:solidFill>
            <a:srgbClr val="1A1D28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4434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$7.3M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235440" y="3840480"/>
            <a:ext cx="2560320" cy="1645920"/>
          </a:xfrm>
          <a:prstGeom prst="rect">
            <a:avLst>
              <a:gd name="adj" fmla="val 5556"/>
            </a:avLst>
          </a:prstGeom>
          <a:solidFill>
            <a:srgbClr val="1A1D28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354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Reduction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235440" y="4434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$12M Budget -&gt; $27M in Savings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10058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22860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A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$4.3M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$6.1M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+$3.5M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$6.3M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$12.4M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+$6.1M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$19.7M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+$7.7M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+$15.0M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8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914400" y="4572000"/>
            <a:ext cx="2286000" cy="640080"/>
          </a:xfrm>
          <a:prstGeom prst="rect">
            <a:avLst>
              <a:gd name="adj" fmla="val 11429"/>
            </a:avLst>
          </a:prstGeom>
          <a:solidFill>
            <a:srgbClr val="1A1D28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Payback: 22mo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3429000" y="4572000"/>
            <a:ext cx="2286000" cy="640080"/>
          </a:xfrm>
          <a:prstGeom prst="rect">
            <a:avLst>
              <a:gd name="adj" fmla="val 11429"/>
            </a:avLst>
          </a:prstGeom>
          <a:solidFill>
            <a:srgbClr val="1A1D2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42900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IRR: 45-55%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43600" y="4572000"/>
            <a:ext cx="2286000" cy="640080"/>
          </a:xfrm>
          <a:prstGeom prst="rect">
            <a:avLst>
              <a:gd name="adj" fmla="val 11429"/>
            </a:avLst>
          </a:prstGeom>
          <a:solidFill>
            <a:srgbClr val="1A1D28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NPV: $38M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458200" y="4572000"/>
            <a:ext cx="2286000" cy="640080"/>
          </a:xfrm>
          <a:prstGeom prst="rect">
            <a:avLst>
              <a:gd name="adj" fmla="val 11429"/>
            </a:avLst>
          </a:prstGeom>
          <a:solidFill>
            <a:srgbClr val="1A1D2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5820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Net: +$15M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is independently viable. If budget is cut, Phase 1 alone delivers $1.8M/yr on $2.8M investment.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7432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GridMind Wins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097280" y="1737360"/>
            <a:ext cx="548640" cy="54864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920240" y="1645920"/>
            <a:ext cx="8961120" cy="822960"/>
          </a:xfrm>
          <a:prstGeom prst="rect">
            <a:avLst>
              <a:gd name="adj" fmla="val 11111"/>
            </a:avLst>
          </a:prstGeom>
          <a:solidFill>
            <a:srgbClr val="1A1D28"/>
          </a:solidFill>
          <a:ln/>
        </p:spPr>
      </p:sp>
      <p:sp>
        <p:nvSpPr>
          <p:cNvPr id="7" name="Text 4"/>
          <p:cNvSpPr/>
          <p:nvPr/>
        </p:nvSpPr>
        <p:spPr>
          <a:xfrm>
            <a:off x="2103120" y="1645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solve the data problem first — proxy metering means you don't need $1M in sensors to start saving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2880360"/>
            <a:ext cx="548640" cy="54864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920240" y="2788920"/>
            <a:ext cx="8961120" cy="822960"/>
          </a:xfrm>
          <a:prstGeom prst="rect">
            <a:avLst>
              <a:gd name="adj" fmla="val 11111"/>
            </a:avLst>
          </a:prstGeom>
          <a:solidFill>
            <a:srgbClr val="1A1D28"/>
          </a:solidFill>
          <a:ln/>
        </p:spPr>
      </p:sp>
      <p:sp>
        <p:nvSpPr>
          <p:cNvPr id="11" name="Text 8"/>
          <p:cNvSpPr/>
          <p:nvPr/>
        </p:nvSpPr>
        <p:spPr>
          <a:xfrm>
            <a:off x="2103120" y="2788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target the right buildings — 20 labs, 47% of campus energy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97280" y="4023360"/>
            <a:ext cx="548640" cy="54864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920240" y="3931920"/>
            <a:ext cx="8961120" cy="822960"/>
          </a:xfrm>
          <a:prstGeom prst="rect">
            <a:avLst>
              <a:gd name="adj" fmla="val 11111"/>
            </a:avLst>
          </a:prstGeom>
          <a:solidFill>
            <a:srgbClr val="1A1D28"/>
          </a:solidFill>
          <a:ln/>
        </p:spPr>
      </p:sp>
      <p:sp>
        <p:nvSpPr>
          <p:cNvPr id="15" name="Text 12"/>
          <p:cNvSpPr/>
          <p:nvPr/>
        </p:nvSpPr>
        <p:spPr>
          <a:xfrm>
            <a:off x="2103120" y="3931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pay for ourselves — $15M net savings, 22-month payback, 45% IRR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0" y="5303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GridMind - Intelligent Campus Energy Orchestration</dc:title>
  <dc:subject>Convergence 2026</dc:subject>
  <dc:creator>GridMind Team</dc:creator>
  <cp:lastModifiedBy>GridMind Team</cp:lastModifiedBy>
  <cp:revision>1</cp:revision>
  <dcterms:created xsi:type="dcterms:W3CDTF">2026-03-28T23:27:53Z</dcterms:created>
  <dcterms:modified xsi:type="dcterms:W3CDTF">2026-03-28T23:27:53Z</dcterms:modified>
</cp:coreProperties>
</file>